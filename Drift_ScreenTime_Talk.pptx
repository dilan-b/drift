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51560"/>
            <a:ext cx="4754880" cy="4754880"/>
          </a:xfrm>
          <a:prstGeom prst="ellipse">
            <a:avLst/>
          </a:prstGeom>
          <a:solidFill>
            <a:srgbClr val="1F3A2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1783080"/>
            <a:ext cx="3291840" cy="3291840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514600"/>
            <a:ext cx="1828800" cy="1828800"/>
          </a:xfrm>
          <a:prstGeom prst="ellipse">
            <a:avLst/>
          </a:prstGeom>
          <a:solidFill>
            <a:srgbClr val="E9E4B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TALK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Attention Economy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E4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science of screen time — and how to take it back.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[Your Name]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Drift  ·  [Library Name]  ·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WE BARELY NOTICE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did you last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phone?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person now checks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times a day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about once every five waking minutes. Ask people to guess their own number, and most say ten.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average — not the extreme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4048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4h 39m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5156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an adult spends on their phone every day (2024)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7408" y="214884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24048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7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205×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36008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 day we check it — about once every 5 waking minutes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91856" y="214884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9016" y="24048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6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2,617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0456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taps, swipes and clicks on it every single day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more than 70 full days a year — over two months of your waking life, every single year, spent looking at a screen.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69480" y="44348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645152"/>
            <a:ext cx="1325880" cy="1325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006840" y="4617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006840" y="4892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to see your own number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006840" y="55595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20-second calculator: how many years of your life your phone adds up to.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1280160"/>
            <a:ext cx="5486400" cy="5486400"/>
          </a:xfrm>
          <a:prstGeom prst="ellipse">
            <a:avLst/>
          </a:prstGeom>
          <a:solidFill>
            <a:srgbClr val="2A4D38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82880"/>
            <a:ext cx="3291840" cy="329184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so hard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put 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forces engineered into the apps in your pocket — none of them about your character.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MYTH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a willpower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treat phone habits like a moral failing — </a:t>
            </a:r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6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put it down, show some discipline.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 are not facing a neutral tool. 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facing thousands of the world's best designers, data scientists and behavioral psychologists — whose full-time job is to keep your attention.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60920" y="214884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F3A2A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524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3524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minutes of willpower, at the end of a tired day.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3524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4297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billion-dollar industry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35240" y="4892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every pixel, 24/7, with your data as feedback.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1 · THE REWARD 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slot machine in your pocket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Variable-ratio reinforcement.  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B.F. Skinner found that rewards delivered on an unpredictable schedule are the most compulsive of all — more than a predictable reward every time.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 refresh. Maybe something great, maybe nothing.
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'maybe' is the exact mechanism slot machines use — now on the screen you check 205 times a day.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0" y="214884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99248" y="2368296"/>
            <a:ext cx="530352" cy="530352"/>
          </a:xfrm>
          <a:prstGeom prst="ellipse">
            <a:avLst/>
          </a:prstGeom>
          <a:solidFill>
            <a:srgbClr val="B0764E"/>
          </a:solidFill>
          <a:ln/>
        </p:spPr>
      </p:sp>
      <p:sp>
        <p:nvSpPr>
          <p:cNvPr id="8" name="Text 6"/>
          <p:cNvSpPr/>
          <p:nvPr/>
        </p:nvSpPr>
        <p:spPr>
          <a:xfrm>
            <a:off x="7699248" y="23682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23134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 refresh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0" y="26609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329184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99248" y="3511296"/>
            <a:ext cx="530352" cy="530352"/>
          </a:xfrm>
          <a:prstGeom prst="ellipse">
            <a:avLst/>
          </a:prstGeom>
          <a:solidFill>
            <a:srgbClr val="B0764E"/>
          </a:solidFill>
          <a:ln/>
        </p:spPr>
      </p:sp>
      <p:sp>
        <p:nvSpPr>
          <p:cNvPr id="13" name="Text 11"/>
          <p:cNvSpPr/>
          <p:nvPr/>
        </p:nvSpPr>
        <p:spPr>
          <a:xfrm>
            <a:off x="7699248" y="35112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34564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payoff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38039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jackpot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443484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99248" y="4654296"/>
            <a:ext cx="530352" cy="530352"/>
          </a:xfrm>
          <a:prstGeom prst="ellipse">
            <a:avLst/>
          </a:prstGeom>
          <a:solidFill>
            <a:srgbClr val="B0764E"/>
          </a:solidFill>
          <a:ln/>
        </p:spPr>
      </p:sp>
      <p:sp>
        <p:nvSpPr>
          <p:cNvPr id="18" name="Text 16"/>
          <p:cNvSpPr/>
          <p:nvPr/>
        </p:nvSpPr>
        <p:spPr>
          <a:xfrm>
            <a:off x="7699248" y="46542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45994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again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9469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compulsion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2 · BRAIN CHEMISTRY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Dopamine isn't the pleasure chemical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E4ECE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myth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“Dopamine = pleasure.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Likes make us feel good.”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4480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were really pleasure, we'd feel satisfied and stop. We don't.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F3A2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shows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Dopamine drives wanting — not liking.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37033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Berridge &amp; Robinson's work separates </a:t>
            </a:r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E9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</a:t>
            </a:r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E9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enjoying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Apps flood the ‘seeking’ system — so you keep chasing a hit you never quite land. That's the itch you can't scratch.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3 · NO BRAKES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have no natural stopping point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423160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23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10512" y="238658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scroll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10512" y="2825496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never ends. Older designs had page 2, page 3 — a natural 'shall I go on?' moment. That pause was deliberately removed.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319272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8992" y="3593592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0512" y="355701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Autoplay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399592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video starts before you decide to watch it. The default is 'keep going,' and defaults win.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89704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8992" y="4764024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764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10512" y="472744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&amp; badges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10512" y="516636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obligations that punish you for stopping — quit and you 'lose' something.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0" y="2148840"/>
            <a:ext cx="3520440" cy="3364992"/>
          </a:xfrm>
          <a:prstGeom prst="roundRect">
            <a:avLst>
              <a:gd name="adj" fmla="val 3261"/>
            </a:avLst>
          </a:prstGeom>
          <a:solidFill>
            <a:srgbClr val="EE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2468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had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cues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92440" y="35204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07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plate. The end of a chapter. The last page of the newspaper. A signal that said: you're done.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92440" y="4846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removed all of them.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4 · THE HIDDEN TAX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glance costs more than the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6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residue.  </a:t>
            </a:r>
            <a:pPr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switch — even a five-second glance at a notification — part of your mind stays stuck on the last thing. Sophie Leroy named this in 2009: your full attention doesn't arrive with you.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6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five-second check doesn't cost five seconds.  </a:t>
            </a:r>
            <a:pPr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Irvine's Gloria Mark clocked the average return to full focus at 23 minutes. Her latest work: our attention on any one screen now lasts about 47 seconds.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0" y="22860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09560" y="254203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6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sec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01000" y="34747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glance you notice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370332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09560" y="395935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7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min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01000" y="48920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refocus fully after a single interruption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KEEPS THE SCORE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follows you into the night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15568" y="25146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D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light delays sleep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5568" y="347472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Harvard study (PNAS, 2015), reading on a screen before bed cut melatonin by 50%+ and pushed the body clock back ~1.5 hours — with groggier mornings after.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407408" y="214884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0016" y="25146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D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bedtime doomscroll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00016" y="347472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variable-reward loop is most powerful when you're tired and your guard is down — exactly when you meant to sleep.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7991856" y="214884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4464" y="25146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D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Displacement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84464" y="347472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on the phone is an hour not spent sleeping, moving, or with people. Often it's the sleep and the face-to-face time that lose.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GENERATION THAT GREW UP ON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is hard to ignore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mental health held broadly steady through the 2000s — then turned sharply downward around </a:t>
            </a:r>
            <a:pPr indent="0" marL="0">
              <a:lnSpc>
                <a:spcPct val="128000"/>
              </a:lnSpc>
              <a:buNone/>
            </a:pPr>
            <a:r>
              <a:rPr lang="en-US" sz="16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2012–2013</a:t>
            </a:r>
            <a:pPr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just as smartphones and social media became near-universal. The rise in anxiety, depression and self-harm was steepest among </a:t>
            </a:r>
            <a:pPr indent="0" marL="0">
              <a:lnSpc>
                <a:spcPct val="128000"/>
              </a:lnSpc>
              <a:buNone/>
            </a:pPr>
            <a:r>
              <a:rPr lang="en-US" sz="16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girls</a:t>
            </a:r>
            <a:pPr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6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 Jonathan Haidt </a:t>
            </a:r>
            <a:pPr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6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Anxious Generation</a:t>
            </a:r>
            <a:pPr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2024) calls it a 'great rewiring of childhood.' The science is still correlational and debated — but few dispute the pattern.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0" y="219456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F3A2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~2012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01000" y="3200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curves for teen depression and self-harm began to climb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416052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09560" y="441655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7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hrs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01000" y="53492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the average teen girl now spends on social media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1280160"/>
            <a:ext cx="5486400" cy="5486400"/>
          </a:xfrm>
          <a:prstGeom prst="ellipse">
            <a:avLst/>
          </a:prstGeom>
          <a:solidFill>
            <a:srgbClr val="2A4D38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82880"/>
            <a:ext cx="3291840" cy="329184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reframe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changes everything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fighting yourself. Start changing the design around you.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463040"/>
            <a:ext cx="9784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was never your </a:t>
            </a:r>
            <a:pPr indent="0" marL="0">
              <a:lnSpc>
                <a:spcPct val="105000"/>
              </a:lnSpc>
              <a:buNone/>
            </a:pPr>
            <a:r>
              <a:rPr lang="en-US" sz="3400" b="1" strike="sngStrike" dirty="0">
                <a:solidFill>
                  <a:srgbClr val="6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willpower.</a:t>
            </a:r>
            <a:pPr indent="0" marL="0">
              <a:lnSpc>
                <a:spcPct val="105000"/>
              </a:lnSpc>
              <a:buNone/>
            </a:pP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the 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D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from that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340156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4251960"/>
            <a:ext cx="502920" cy="502920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48280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Willpower doesn't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5266944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out-discipline a system optimizing against you 24/7. It works for a day and fails on the tired ones.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407408" y="4023360"/>
            <a:ext cx="340156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4251960"/>
            <a:ext cx="502920" cy="502920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48280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does scale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5266944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environment once and it keeps working while you sleep — no daily heroics required.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7991856" y="4023360"/>
            <a:ext cx="3401568" cy="1920240"/>
          </a:xfrm>
          <a:prstGeom prst="roundRect">
            <a:avLst>
              <a:gd name="adj" fmla="val 4762"/>
            </a:avLst>
          </a:prstGeom>
          <a:solidFill>
            <a:srgbClr val="E4ECE0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4251960"/>
            <a:ext cx="502920" cy="50292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47888" y="48280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good news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47888" y="5266944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the fix isn't 'become a better person.' It's 'set things up smarter.' That's learnable.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1280160"/>
            <a:ext cx="5486400" cy="5486400"/>
          </a:xfrm>
          <a:prstGeom prst="ellipse">
            <a:avLst/>
          </a:prstGeom>
          <a:solidFill>
            <a:srgbClr val="2A4D38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82880"/>
            <a:ext cx="3291840" cy="329184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design principles you can use tonight — no app required.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principles that beat willpower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423160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23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10512" y="23865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friction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10512" y="2825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pull-to-open cost a few seconds more.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319272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8992" y="3593592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0512" y="355701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environment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39959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defaults so the easy path is the good 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89704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8992" y="4764024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764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10512" y="4727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commitment device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10512" y="5166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your future self while you're clear-headed.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1488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2423160"/>
            <a:ext cx="566928" cy="566928"/>
          </a:xfrm>
          <a:prstGeom prst="ellipse">
            <a:avLst/>
          </a:prstGeom>
          <a:solidFill>
            <a:srgbClr val="B0764E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23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51192" y="23865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don't just remove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51192" y="2825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freed-up time somewhere to go.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319272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9672" y="3593592"/>
            <a:ext cx="566928" cy="566928"/>
          </a:xfrm>
          <a:prstGeom prst="ellipse">
            <a:avLst/>
          </a:prstGeom>
          <a:solidFill>
            <a:srgbClr val="B0764E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51192" y="355701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accountable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51192" y="39959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social pressure — do it with others.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489704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F3A2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64515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these require more discipline.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require better setup — done once.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friction to the bad, remove it from the good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speed bumps beat big intentions. A 15-second delay is often enough to break the automatic reach.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980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mode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78992" y="33649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Draining the color makes the feed far less magnetic — the dopamine cues dim.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8346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980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don't just close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63440" y="33649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app from your phone; use it in the browser. The extra step is the point.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1856" y="28346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2980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 every time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47888" y="33649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Re-typing the password is a 15-second pause that lets the urge pass.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3525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triggers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78992" y="47365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home screen, into a folder on page 3. Out of sight, out of thumb.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07408" y="42062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3525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badges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63440" y="47365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red notification dots — they manufacture urgency that isn't real.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91856" y="42062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43525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it in another room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47888" y="47365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for the worst offender: the bedtime and first-thing-morning scroll.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defaults, because defaults win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 make a fresh, wise decision 205 times a day. So don't rely on deciding — set the default once, and let it carry you.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3520440"/>
            <a:ext cx="566928" cy="566928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10512" y="34838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Phone-free zones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10512" y="39227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dinner table. The bedroom. The first 30 minutes awake. Make the rule about the place, not the moment.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416552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8992" y="4690872"/>
            <a:ext cx="566928" cy="566928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10512" y="46542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basket by the door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10512" y="50932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 for the phone when you walk in, so it isn't fused to your hand all evening.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2461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9672" y="3520440"/>
            <a:ext cx="566928" cy="566928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51192" y="34838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alarm clock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51192" y="39227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single most damaging loop: phone is the last thing at night, first in the morning.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416552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690872"/>
            <a:ext cx="566928" cy="566928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51192" y="46542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downtime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51192" y="50932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phone's own tools to auto-lock distracting apps at set hours — a default you don't renegotiate.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Commitment devices: bind your future self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commitment device is a choice you make now, while you're clear-headed, that limits what tired-you can do later. </a:t>
            </a:r>
            <a:pPr indent="0" marL="0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6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Odysseus tying himself to the mast so he couldn't chase the sirens — same idea, modern problem.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3401568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D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limits with teeth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hard cap you can't casually override in the moment of weakness.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3429000"/>
            <a:ext cx="3401568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D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Stakes &amp; promises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1728" y="45262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someone your goal, or put money on it. Now quitting has a cost.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1856" y="3429000"/>
            <a:ext cx="3401568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D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Earn-it systems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6176" y="45262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screen time contingent on something first — a walk, a task, real life.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the habit — don't just delete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EEE0C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habit fills a real need — boredom, stress, connection, a moment's rest.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07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 without a replacement and the vacuum pulls you right back.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493008"/>
            <a:ext cx="4617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Bored in a queue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 or podcast queued and ready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338328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3493008"/>
            <a:ext cx="4617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 down at night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bath, a stretch, a few pages of fiction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681728"/>
            <a:ext cx="4617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 connection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to a real friend, or a call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457200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681728"/>
            <a:ext cx="4617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mental break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 outside — even five minutes resets more than a scroll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it with other people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Willpower is a solo sport and it loses. Accountability borrows other people's — and turns a private struggle into a shared 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3520440"/>
            <a:ext cx="566928" cy="566928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10512" y="34838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stacks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10512" y="39227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dinner, everyone's phone goes in a pile. First to reach for it does the dishes.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416552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8992" y="4690872"/>
            <a:ext cx="566928" cy="566928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10512" y="46542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screen-time buddy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10512" y="50932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weekly numbers with a friend. Being seen changes behavior more than any app setting.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2461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9672" y="3520440"/>
            <a:ext cx="566928" cy="566928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51192" y="34838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charging station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51192" y="39227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spot where everyone's phone sleeps at night. The rule applies to parents too.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416552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690872"/>
            <a:ext cx="566928" cy="566928"/>
          </a:xfrm>
          <a:prstGeom prst="ellipse">
            <a:avLst/>
          </a:prstGeom>
          <a:solidFill>
            <a:srgbClr val="3E6B4E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51192" y="46542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people your why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51192" y="50932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the goal out loud to others makes backing out cost something social.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covered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2A4D3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7249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willpower. Reward loops, dopamine-seeking, no stopping cues and attention residue are engineered 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2A4D3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59943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fighting yourself. Change the design around you — that's what scales.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2A4D38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249424"/>
            <a:ext cx="475488" cy="47548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2494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2128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friction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the bad, speed the good.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30175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2A4D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3163824"/>
            <a:ext cx="475488" cy="47548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1638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31272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defaults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once; let it carry you.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2A4D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078224"/>
            <a:ext cx="475488" cy="47548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40416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ahead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your future self.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48463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2A4D3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4992624"/>
            <a:ext cx="475488" cy="47548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9926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49560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&amp; share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gap; do it with others.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1280160"/>
            <a:ext cx="5486400" cy="5486400"/>
          </a:xfrm>
          <a:prstGeom prst="ellipse">
            <a:avLst/>
          </a:prstGeom>
          <a:solidFill>
            <a:srgbClr val="2A4D38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82880"/>
            <a:ext cx="3291840" cy="329184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 that does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for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disclosure: this is the part I built. Everything before it stands on its own.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4023360" cy="4023360"/>
          </a:xfrm>
          <a:prstGeom prst="ellipse">
            <a:avLst/>
          </a:prstGeom>
          <a:solidFill>
            <a:srgbClr val="1F3A2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651760"/>
            <a:ext cx="1737360" cy="1737360"/>
          </a:xfrm>
          <a:prstGeom prst="ellipse">
            <a:avLst/>
          </a:prstGeom>
          <a:solidFill>
            <a:srgbClr val="E9E4B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DRIFT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couldn't out-willpower my own phone either.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every tip on the last few slides. They worked — until a tired evening, when I'd just turn the limit off.
</a:t>
            </a:r>
            <a:pPr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built the commitment device I wished existed: one that makes the good thing the price of the screen time. </a:t>
            </a:r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more discipline — better design, running for me.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DRIFT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 your screen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40156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68880"/>
            <a:ext cx="658368" cy="65836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32461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to block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977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apps that eat your day. Drift puts a Screen Time shield in front of them.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406908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B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07408" y="2194560"/>
            <a:ext cx="340156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468880"/>
            <a:ext cx="658368" cy="65836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2468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real 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977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task, a walk, a goal — the things you actually want to spend time on.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7653528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B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991856" y="2194560"/>
            <a:ext cx="340156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2A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2468880"/>
            <a:ext cx="658368" cy="65836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2468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47888" y="32461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earned time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7888" y="3977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effort converts into minutes. The shield lifts for exactly what you've earned — then it's back.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822960" y="4983480"/>
            <a:ext cx="10561320" cy="868680"/>
          </a:xfrm>
          <a:prstGeom prst="roundRect">
            <a:avLst>
              <a:gd name="adj" fmla="val 10526"/>
            </a:avLst>
          </a:prstGeom>
          <a:solidFill>
            <a:srgbClr val="E4ECE0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1206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flip: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stop being the default you fall into, and become the reward you unlock — after real life gets its turn first.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is tonight's science, automated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468880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10512" y="24323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friction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10512" y="2871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shield is a real speed bump in front of the apps you chose — not a reminder you can wave away.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456432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8992" y="3730752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730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0512" y="36941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commitment device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4133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rules clear-headed; tired-you can't casually override them at 11pm.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1945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9672" y="2468880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51192" y="24323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Earn-it, built 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51192" y="2871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becomes contingent on real effort — Principle 3, running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456432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sx="100000" sy="100000" kx="0" ky="0" algn="bl" rotWithShape="0" blurRad="88900" dist="25400" dir="5400000">
              <a:srgbClr val="1F3A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730752"/>
            <a:ext cx="566928" cy="566928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730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51192" y="36941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Replaces, doesn't just block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51192" y="4133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'task first' step points you at the better thing, so blocking doesn't leave a vacuum.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4846320"/>
            <a:ext cx="10561320" cy="1005840"/>
          </a:xfrm>
          <a:prstGeom prst="roundRect">
            <a:avLst>
              <a:gd name="adj" fmla="val 9091"/>
            </a:avLst>
          </a:prstGeom>
          <a:solidFill>
            <a:srgbClr val="1F3A2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983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remember to do all five by hand.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only thing the app really sells: it makes the good design the default, so you don't have to.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2A4D3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TONIGHT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small thing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7040880" cy="1051560"/>
          </a:xfrm>
          <a:prstGeom prst="roundRect">
            <a:avLst>
              <a:gd name="adj" fmla="val 8696"/>
            </a:avLst>
          </a:prstGeom>
          <a:solidFill>
            <a:srgbClr val="2A4D38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761488"/>
            <a:ext cx="548640" cy="54864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761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67919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tip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83080" y="308152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or charge your phone outside the bedroom.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7040880" cy="1051560"/>
          </a:xfrm>
          <a:prstGeom prst="roundRect">
            <a:avLst>
              <a:gd name="adj" fmla="val 8696"/>
            </a:avLst>
          </a:prstGeom>
          <a:solidFill>
            <a:srgbClr val="2A4D38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950208"/>
            <a:ext cx="548640" cy="54864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50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86791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Drift free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783080" y="427024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first shield and earn time in two minutes.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892040"/>
            <a:ext cx="7040880" cy="1051560"/>
          </a:xfrm>
          <a:prstGeom prst="roundRect">
            <a:avLst>
              <a:gd name="adj" fmla="val 8696"/>
            </a:avLst>
          </a:prstGeom>
          <a:solidFill>
            <a:srgbClr val="2A4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5138928"/>
            <a:ext cx="548640" cy="54864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138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505663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calculator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83080" y="54589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your number anytime, and pass it to a friend.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251460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743200"/>
            <a:ext cx="2423160" cy="24231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732520" y="5468112"/>
            <a:ext cx="2423160" cy="530352"/>
          </a:xfrm>
          <a:prstGeom prst="roundRect">
            <a:avLst>
              <a:gd name="adj" fmla="val 13793"/>
            </a:avLst>
          </a:prstGeom>
          <a:solidFill>
            <a:srgbClr val="B0764E"/>
          </a:solidFill>
          <a:ln/>
        </p:spPr>
      </p:sp>
      <p:sp>
        <p:nvSpPr>
          <p:cNvPr id="23" name="Text 20"/>
          <p:cNvSpPr/>
          <p:nvPr/>
        </p:nvSpPr>
        <p:spPr>
          <a:xfrm>
            <a:off x="8732520" y="55321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LIBRARY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914400"/>
            <a:ext cx="5029200" cy="5029200"/>
          </a:xfrm>
          <a:prstGeom prst="ellipse">
            <a:avLst/>
          </a:prstGeom>
          <a:solidFill>
            <a:srgbClr val="1F3A2A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2011680"/>
            <a:ext cx="2834640" cy="2834640"/>
          </a:xfrm>
          <a:prstGeom prst="ellipse">
            <a:avLst/>
          </a:prstGeom>
          <a:solidFill>
            <a:srgbClr val="2D7A52"/>
          </a:solidFill>
          <a:ln/>
        </p:spPr>
      </p:sp>
      <p:sp>
        <p:nvSpPr>
          <p:cNvPr id="4" name="Shape 2"/>
          <p:cNvSpPr/>
          <p:nvPr/>
        </p:nvSpPr>
        <p:spPr>
          <a:xfrm>
            <a:off x="10012680" y="2788920"/>
            <a:ext cx="1280160" cy="1280160"/>
          </a:xfrm>
          <a:prstGeom prst="ellipse">
            <a:avLst/>
          </a:prstGeom>
          <a:solidFill>
            <a:srgbClr val="E9E4B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E4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one idea tonight earns back even an hour of your week, that's a win.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deeper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eMarketer / Data.ai (2024)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51560" y="22128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adults average ~4h 39m of daily phone use.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715768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072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Reviews.org (2024)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30998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check their phones 205× a day, up from 144.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602736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941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dscout (2016)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39867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2,617 daily touches; 5,427 for heavy users.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489704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5811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Skinner · Harris / CHT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48737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Variable-ratio rewards &amp; persuasive design.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202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Berridge &amp; Robinson (2016)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22128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as ‘wanting,’ not ‘liking.’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715768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8072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Leroy (2009) · Mark, UC Irvine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30998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residue; 23-min refocus; 47-sec spans.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602736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941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et al., PNAS (2015)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39867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screen light suppresses melatonin, delays sleep.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489704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811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Haidt (2024)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48737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Anxious Generation — youth &amp; screens (debated).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561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422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further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51560" y="56875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Focus (Hari) · Indistractable (Eyal) · Atomic Habits (Clear) · Digital Minimalism (Newport).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6089904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 —  [Your Name], Drift  ·  [email / getdriftapp.org]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·  The Science of Screen 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2026-07-28T22:08:27Z</dcterms:created>
  <dcterms:modified xsi:type="dcterms:W3CDTF">2026-07-28T22:08:27Z</dcterms:modified>
</cp:coreProperties>
</file>